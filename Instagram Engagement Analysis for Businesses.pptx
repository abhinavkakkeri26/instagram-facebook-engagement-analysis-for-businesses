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282" r:id="rId6"/>
    <p:sldId id="283" r:id="rId7"/>
    <p:sldId id="284" r:id="rId8"/>
    <p:sldId id="285" r:id="rId9"/>
    <p:sldId id="286" r:id="rId10"/>
    <p:sldId id="287" r:id="rId11"/>
    <p:sldId id="289"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63" d="100"/>
          <a:sy n="63"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4/12/2025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4/12/2025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2400" b="1" dirty="0">
                <a:solidFill>
                  <a:schemeClr val="tx1"/>
                </a:solidFill>
              </a:rPr>
              <a:t>Instagram Engagement Analysis for Businesses</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sz="1800" dirty="0">
                <a:solidFill>
                  <a:srgbClr val="FF0000"/>
                </a:solidFill>
              </a:rPr>
              <a:t>Prepared by:- Abhinav </a:t>
            </a:r>
            <a:r>
              <a:rPr lang="en-US" sz="1800" dirty="0" err="1">
                <a:solidFill>
                  <a:srgbClr val="FF0000"/>
                </a:solidFill>
              </a:rPr>
              <a:t>kakkeri</a:t>
            </a:r>
            <a:endParaRPr lang="en-US" sz="1800" dirty="0">
              <a:solidFill>
                <a:srgbClr val="FF0000"/>
              </a:solidFill>
            </a:endParaRPr>
          </a:p>
        </p:txBody>
      </p:sp>
      <p:cxnSp>
        <p:nvCxnSpPr>
          <p:cNvPr id="5" name="Straight Connector 4">
            <a:extLst>
              <a:ext uri="{FF2B5EF4-FFF2-40B4-BE49-F238E27FC236}">
                <a16:creationId xmlns:a16="http://schemas.microsoft.com/office/drawing/2014/main" id="{839AE4E3-05E8-5D4B-C457-F3A15AAD5810}"/>
              </a:ext>
            </a:extLst>
          </p:cNvPr>
          <p:cNvCxnSpPr>
            <a:cxnSpLocks/>
          </p:cNvCxnSpPr>
          <p:nvPr/>
        </p:nvCxnSpPr>
        <p:spPr>
          <a:xfrm>
            <a:off x="7389962" y="4157933"/>
            <a:ext cx="3217078"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pic>
        <p:nvPicPr>
          <p:cNvPr id="14" name="Picture 13">
            <a:extLst>
              <a:ext uri="{FF2B5EF4-FFF2-40B4-BE49-F238E27FC236}">
                <a16:creationId xmlns:a16="http://schemas.microsoft.com/office/drawing/2014/main" id="{3AA5C1D9-6C9F-0ECF-067F-1FD977F5CCBD}"/>
              </a:ext>
            </a:extLst>
          </p:cNvPr>
          <p:cNvPicPr>
            <a:picLocks noChangeAspect="1"/>
          </p:cNvPicPr>
          <p:nvPr/>
        </p:nvPicPr>
        <p:blipFill>
          <a:blip r:embed="rId4"/>
          <a:stretch>
            <a:fillRect/>
          </a:stretch>
        </p:blipFill>
        <p:spPr>
          <a:xfrm>
            <a:off x="8311103" y="1609619"/>
            <a:ext cx="1672826" cy="1521771"/>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B91B-2AB4-679D-8249-6FC7DA2DC1D1}"/>
              </a:ext>
            </a:extLst>
          </p:cNvPr>
          <p:cNvSpPr>
            <a:spLocks noGrp="1"/>
          </p:cNvSpPr>
          <p:nvPr>
            <p:ph type="title"/>
          </p:nvPr>
        </p:nvSpPr>
        <p:spPr/>
        <p:txBody>
          <a:bodyPr>
            <a:normAutofit/>
          </a:bodyPr>
          <a:lstStyle/>
          <a:p>
            <a:r>
              <a:rPr lang="en-IN" sz="4800" b="1" dirty="0">
                <a:solidFill>
                  <a:schemeClr val="tx1"/>
                </a:solidFill>
              </a:rPr>
              <a:t>Introduction</a:t>
            </a:r>
          </a:p>
        </p:txBody>
      </p:sp>
      <p:sp>
        <p:nvSpPr>
          <p:cNvPr id="3" name="Content Placeholder 2">
            <a:extLst>
              <a:ext uri="{FF2B5EF4-FFF2-40B4-BE49-F238E27FC236}">
                <a16:creationId xmlns:a16="http://schemas.microsoft.com/office/drawing/2014/main" id="{7B77A4DF-D640-FC3D-E448-1510397F7002}"/>
              </a:ext>
            </a:extLst>
          </p:cNvPr>
          <p:cNvSpPr>
            <a:spLocks noGrp="1"/>
          </p:cNvSpPr>
          <p:nvPr>
            <p:ph idx="1"/>
          </p:nvPr>
        </p:nvSpPr>
        <p:spPr/>
        <p:txBody>
          <a:bodyPr>
            <a:normAutofit/>
          </a:bodyPr>
          <a:lstStyle/>
          <a:p>
            <a:pPr algn="just"/>
            <a:r>
              <a:rPr lang="en-IN" sz="2800" dirty="0"/>
              <a:t>The *Instagram Engagement Analysis Dashboard* provides insights into social media performance by </a:t>
            </a:r>
            <a:r>
              <a:rPr lang="en-IN" sz="2800" dirty="0" err="1"/>
              <a:t>analyzing</a:t>
            </a:r>
            <a:r>
              <a:rPr lang="en-IN" sz="2800" dirty="0"/>
              <a:t> engagement and reach metrics of posts. This data-driven approach helps businesses refine their marketing strategies, optimize content formats, and maximize audience interaction. </a:t>
            </a:r>
          </a:p>
        </p:txBody>
      </p:sp>
      <p:cxnSp>
        <p:nvCxnSpPr>
          <p:cNvPr id="5" name="Straight Connector 4">
            <a:extLst>
              <a:ext uri="{FF2B5EF4-FFF2-40B4-BE49-F238E27FC236}">
                <a16:creationId xmlns:a16="http://schemas.microsoft.com/office/drawing/2014/main" id="{B0989345-5811-5CCE-6A16-5E66A45B5160}"/>
              </a:ext>
            </a:extLst>
          </p:cNvPr>
          <p:cNvCxnSpPr>
            <a:cxnSpLocks/>
          </p:cNvCxnSpPr>
          <p:nvPr/>
        </p:nvCxnSpPr>
        <p:spPr>
          <a:xfrm>
            <a:off x="1173480" y="1866900"/>
            <a:ext cx="10104725"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2715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CF5B-DA0A-1BDB-AEF0-9523A70A62AA}"/>
              </a:ext>
            </a:extLst>
          </p:cNvPr>
          <p:cNvSpPr>
            <a:spLocks noGrp="1"/>
          </p:cNvSpPr>
          <p:nvPr>
            <p:ph type="title"/>
          </p:nvPr>
        </p:nvSpPr>
        <p:spPr/>
        <p:txBody>
          <a:bodyPr>
            <a:normAutofit/>
          </a:bodyPr>
          <a:lstStyle/>
          <a:p>
            <a:r>
              <a:rPr lang="en-IN" sz="4800" b="1" dirty="0">
                <a:solidFill>
                  <a:schemeClr val="tx1"/>
                </a:solidFill>
              </a:rPr>
              <a:t>Acknowledgment</a:t>
            </a:r>
          </a:p>
        </p:txBody>
      </p:sp>
      <p:sp>
        <p:nvSpPr>
          <p:cNvPr id="3" name="Content Placeholder 2">
            <a:extLst>
              <a:ext uri="{FF2B5EF4-FFF2-40B4-BE49-F238E27FC236}">
                <a16:creationId xmlns:a16="http://schemas.microsoft.com/office/drawing/2014/main" id="{3E2618C7-9D5C-49FF-2DB3-A75BAB521E4D}"/>
              </a:ext>
            </a:extLst>
          </p:cNvPr>
          <p:cNvSpPr>
            <a:spLocks noGrp="1"/>
          </p:cNvSpPr>
          <p:nvPr>
            <p:ph idx="1"/>
          </p:nvPr>
        </p:nvSpPr>
        <p:spPr/>
        <p:txBody>
          <a:bodyPr>
            <a:normAutofit/>
          </a:bodyPr>
          <a:lstStyle/>
          <a:p>
            <a:pPr algn="just"/>
            <a:r>
              <a:rPr lang="en-US" sz="2400" dirty="0"/>
              <a:t>I would like to acknowledge the valuable insights provided by the *Instagram Engagement Analysis Dashboard*, which help in making informed strategic decisions for optimizing social media engagement. </a:t>
            </a:r>
          </a:p>
          <a:p>
            <a:pPr algn="just"/>
            <a:r>
              <a:rPr lang="en-US" sz="2400" dirty="0"/>
              <a:t> I also recognize the contribution of data analytics in empowering businesses to refine their content strategies, improve audience interaction, and drive digital growth. </a:t>
            </a:r>
            <a:endParaRPr lang="en-IN" sz="2400" dirty="0"/>
          </a:p>
        </p:txBody>
      </p:sp>
      <p:cxnSp>
        <p:nvCxnSpPr>
          <p:cNvPr id="5" name="Straight Connector 4">
            <a:extLst>
              <a:ext uri="{FF2B5EF4-FFF2-40B4-BE49-F238E27FC236}">
                <a16:creationId xmlns:a16="http://schemas.microsoft.com/office/drawing/2014/main" id="{658EE0DE-3AA3-B290-F14E-0A91217C9B26}"/>
              </a:ext>
            </a:extLst>
          </p:cNvPr>
          <p:cNvCxnSpPr>
            <a:cxnSpLocks/>
          </p:cNvCxnSpPr>
          <p:nvPr/>
        </p:nvCxnSpPr>
        <p:spPr>
          <a:xfrm>
            <a:off x="1143000" y="1866900"/>
            <a:ext cx="999744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264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59411-C90B-D457-1C75-B978CDD5FB52}"/>
              </a:ext>
            </a:extLst>
          </p:cNvPr>
          <p:cNvSpPr>
            <a:spLocks noGrp="1"/>
          </p:cNvSpPr>
          <p:nvPr>
            <p:ph type="title"/>
          </p:nvPr>
        </p:nvSpPr>
        <p:spPr>
          <a:xfrm>
            <a:off x="913795" y="274322"/>
            <a:ext cx="10353762" cy="1097279"/>
          </a:xfrm>
        </p:spPr>
        <p:txBody>
          <a:bodyPr>
            <a:normAutofit/>
          </a:bodyPr>
          <a:lstStyle/>
          <a:p>
            <a:r>
              <a:rPr lang="en-US" sz="4800" b="1" dirty="0"/>
              <a:t>Dashboard</a:t>
            </a:r>
            <a:endParaRPr lang="en-IN" sz="4800" b="1" dirty="0"/>
          </a:p>
        </p:txBody>
      </p:sp>
      <p:pic>
        <p:nvPicPr>
          <p:cNvPr id="12" name="Content Placeholder 11">
            <a:extLst>
              <a:ext uri="{FF2B5EF4-FFF2-40B4-BE49-F238E27FC236}">
                <a16:creationId xmlns:a16="http://schemas.microsoft.com/office/drawing/2014/main" id="{7FFA2074-378C-4196-C6DE-18B6F4D3FEBF}"/>
              </a:ext>
            </a:extLst>
          </p:cNvPr>
          <p:cNvPicPr>
            <a:picLocks noGrp="1" noChangeAspect="1"/>
          </p:cNvPicPr>
          <p:nvPr>
            <p:ph idx="1"/>
          </p:nvPr>
        </p:nvPicPr>
        <p:blipFill>
          <a:blip r:embed="rId2"/>
          <a:stretch>
            <a:fillRect/>
          </a:stretch>
        </p:blipFill>
        <p:spPr>
          <a:xfrm>
            <a:off x="913794" y="1371603"/>
            <a:ext cx="10364411" cy="5318758"/>
          </a:xfrm>
        </p:spPr>
      </p:pic>
      <p:cxnSp>
        <p:nvCxnSpPr>
          <p:cNvPr id="8" name="Straight Connector 7">
            <a:extLst>
              <a:ext uri="{FF2B5EF4-FFF2-40B4-BE49-F238E27FC236}">
                <a16:creationId xmlns:a16="http://schemas.microsoft.com/office/drawing/2014/main" id="{55B798B6-B36F-7361-D7E6-E182E1AA74A1}"/>
              </a:ext>
            </a:extLst>
          </p:cNvPr>
          <p:cNvCxnSpPr>
            <a:cxnSpLocks/>
          </p:cNvCxnSpPr>
          <p:nvPr/>
        </p:nvCxnSpPr>
        <p:spPr>
          <a:xfrm>
            <a:off x="924443" y="1211580"/>
            <a:ext cx="1035376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32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C7EC-5822-E388-E7D0-5CC8A394081A}"/>
              </a:ext>
            </a:extLst>
          </p:cNvPr>
          <p:cNvSpPr>
            <a:spLocks noGrp="1"/>
          </p:cNvSpPr>
          <p:nvPr>
            <p:ph type="title"/>
          </p:nvPr>
        </p:nvSpPr>
        <p:spPr/>
        <p:txBody>
          <a:bodyPr>
            <a:normAutofit/>
          </a:bodyPr>
          <a:lstStyle/>
          <a:p>
            <a:r>
              <a:rPr lang="en-IN" sz="4800" b="1" dirty="0">
                <a:solidFill>
                  <a:schemeClr val="tx1"/>
                </a:solidFill>
              </a:rPr>
              <a:t>Key Finding</a:t>
            </a:r>
          </a:p>
        </p:txBody>
      </p:sp>
      <p:sp>
        <p:nvSpPr>
          <p:cNvPr id="3" name="Content Placeholder 2">
            <a:extLst>
              <a:ext uri="{FF2B5EF4-FFF2-40B4-BE49-F238E27FC236}">
                <a16:creationId xmlns:a16="http://schemas.microsoft.com/office/drawing/2014/main" id="{458C61B4-0820-7CB7-2764-A2F88172F6E6}"/>
              </a:ext>
            </a:extLst>
          </p:cNvPr>
          <p:cNvSpPr>
            <a:spLocks noGrp="1"/>
          </p:cNvSpPr>
          <p:nvPr>
            <p:ph idx="1"/>
          </p:nvPr>
        </p:nvSpPr>
        <p:spPr/>
        <p:txBody>
          <a:bodyPr/>
          <a:lstStyle/>
          <a:p>
            <a:pPr algn="just"/>
            <a:r>
              <a:rPr lang="en-US" b="1" dirty="0">
                <a:solidFill>
                  <a:srgbClr val="FF0000"/>
                </a:solidFill>
              </a:rPr>
              <a:t>Engagement by Post Type</a:t>
            </a:r>
            <a:r>
              <a:rPr lang="en-US" dirty="0"/>
              <a:t>:- Photos contribute to *70.47%* of the total engagement, making them the dominant format.   </a:t>
            </a:r>
          </a:p>
          <a:p>
            <a:pPr algn="just"/>
            <a:r>
              <a:rPr lang="en-US" dirty="0"/>
              <a:t> Videos* account for *21.47%*, indicating strong user interest but lower engagement than photos.  </a:t>
            </a:r>
          </a:p>
          <a:p>
            <a:pPr algn="just"/>
            <a:r>
              <a:rPr lang="en-US" dirty="0"/>
              <a:t>Carousels make up *7.06%*, suggesting they are less effective but still useful for audience interaction.   </a:t>
            </a:r>
          </a:p>
          <a:p>
            <a:pPr algn="just"/>
            <a:r>
              <a:rPr lang="en-US" dirty="0" err="1"/>
              <a:t>ther</a:t>
            </a:r>
            <a:r>
              <a:rPr lang="en-US" dirty="0"/>
              <a:t> post types contribute only *1%*, confirming their limited impact.</a:t>
            </a:r>
            <a:endParaRPr lang="en-IN" dirty="0"/>
          </a:p>
        </p:txBody>
      </p:sp>
      <p:cxnSp>
        <p:nvCxnSpPr>
          <p:cNvPr id="5" name="Straight Connector 4">
            <a:extLst>
              <a:ext uri="{FF2B5EF4-FFF2-40B4-BE49-F238E27FC236}">
                <a16:creationId xmlns:a16="http://schemas.microsoft.com/office/drawing/2014/main" id="{1D05339D-AF04-962A-B110-EE75774D7D28}"/>
              </a:ext>
            </a:extLst>
          </p:cNvPr>
          <p:cNvCxnSpPr>
            <a:cxnSpLocks/>
          </p:cNvCxnSpPr>
          <p:nvPr/>
        </p:nvCxnSpPr>
        <p:spPr>
          <a:xfrm>
            <a:off x="913795" y="1752600"/>
            <a:ext cx="1036441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3B7B-8888-99E1-B53C-DF0D287F4444}"/>
              </a:ext>
            </a:extLst>
          </p:cNvPr>
          <p:cNvSpPr>
            <a:spLocks noGrp="1"/>
          </p:cNvSpPr>
          <p:nvPr>
            <p:ph type="title"/>
          </p:nvPr>
        </p:nvSpPr>
        <p:spPr/>
        <p:txBody>
          <a:bodyPr>
            <a:normAutofit/>
          </a:bodyPr>
          <a:lstStyle/>
          <a:p>
            <a:r>
              <a:rPr lang="en-IN" sz="4800" b="1" dirty="0">
                <a:solidFill>
                  <a:schemeClr val="tx1"/>
                </a:solidFill>
              </a:rPr>
              <a:t>Key Finding</a:t>
            </a:r>
            <a:endParaRPr lang="en-IN" sz="4800" dirty="0"/>
          </a:p>
        </p:txBody>
      </p:sp>
      <p:sp>
        <p:nvSpPr>
          <p:cNvPr id="3" name="Content Placeholder 2">
            <a:extLst>
              <a:ext uri="{FF2B5EF4-FFF2-40B4-BE49-F238E27FC236}">
                <a16:creationId xmlns:a16="http://schemas.microsoft.com/office/drawing/2014/main" id="{22E4B325-AC60-0026-99BA-5C38EF751B60}"/>
              </a:ext>
            </a:extLst>
          </p:cNvPr>
          <p:cNvSpPr>
            <a:spLocks noGrp="1"/>
          </p:cNvSpPr>
          <p:nvPr>
            <p:ph idx="1"/>
          </p:nvPr>
        </p:nvSpPr>
        <p:spPr>
          <a:xfrm>
            <a:off x="913795" y="1866900"/>
            <a:ext cx="10353762" cy="4762500"/>
          </a:xfrm>
        </p:spPr>
        <p:txBody>
          <a:bodyPr>
            <a:normAutofit fontScale="92500"/>
          </a:bodyPr>
          <a:lstStyle/>
          <a:p>
            <a:r>
              <a:rPr lang="en-US" sz="2600" b="1" dirty="0">
                <a:solidFill>
                  <a:srgbClr val="FF0000"/>
                </a:solidFill>
              </a:rPr>
              <a:t>Yearly Trends in Engagement and Reach</a:t>
            </a:r>
            <a:r>
              <a:rPr lang="en-US" dirty="0"/>
              <a:t>:- </a:t>
            </a:r>
          </a:p>
          <a:p>
            <a:r>
              <a:rPr lang="en-US" dirty="0"/>
              <a:t>2020:- Reach – *500, Engagement – **300*     </a:t>
            </a:r>
          </a:p>
          <a:p>
            <a:r>
              <a:rPr lang="en-US" dirty="0"/>
              <a:t>2021:- Reach – *700, Engagement – **450* </a:t>
            </a:r>
          </a:p>
          <a:p>
            <a:r>
              <a:rPr lang="en-US" dirty="0"/>
              <a:t>2022:- Reach – *900, Engagement – **600*    </a:t>
            </a:r>
          </a:p>
          <a:p>
            <a:r>
              <a:rPr lang="en-US" dirty="0"/>
              <a:t>Engagement shows a *steady upward trend*, reflecting improved content strategy or </a:t>
            </a:r>
            <a:r>
              <a:rPr lang="en-US" sz="2200" dirty="0"/>
              <a:t>increasing audience interaction over time. </a:t>
            </a:r>
          </a:p>
          <a:p>
            <a:r>
              <a:rPr lang="en-US" sz="2600" b="1" dirty="0">
                <a:solidFill>
                  <a:srgbClr val="FF0000"/>
                </a:solidFill>
              </a:rPr>
              <a:t>Top-Performing Posts</a:t>
            </a:r>
            <a:r>
              <a:rPr lang="en-US" dirty="0"/>
              <a:t>:- Highest </a:t>
            </a:r>
            <a:r>
              <a:rPr lang="en-US" dirty="0" err="1"/>
              <a:t>Engagement.Post</a:t>
            </a:r>
            <a:r>
              <a:rPr lang="en-US" dirty="0"/>
              <a:t> A (*1000 interactions) leads in engagement, followed by Post.</a:t>
            </a:r>
          </a:p>
          <a:p>
            <a:r>
              <a:rPr lang="en-US" dirty="0"/>
              <a:t> B (950) and Post C (900*):-*Highest Reach:* - Post A also tops reach metrics (*1500 views*), suggesting a strong correlation between reach and </a:t>
            </a:r>
            <a:r>
              <a:rPr lang="en-US" dirty="0" err="1"/>
              <a:t>engagemen</a:t>
            </a:r>
            <a:endParaRPr lang="en-IN" dirty="0"/>
          </a:p>
        </p:txBody>
      </p:sp>
      <p:cxnSp>
        <p:nvCxnSpPr>
          <p:cNvPr id="5" name="Straight Connector 4">
            <a:extLst>
              <a:ext uri="{FF2B5EF4-FFF2-40B4-BE49-F238E27FC236}">
                <a16:creationId xmlns:a16="http://schemas.microsoft.com/office/drawing/2014/main" id="{E55135E1-104E-B366-B556-009B7D796F60}"/>
              </a:ext>
            </a:extLst>
          </p:cNvPr>
          <p:cNvCxnSpPr>
            <a:cxnSpLocks/>
          </p:cNvCxnSpPr>
          <p:nvPr/>
        </p:nvCxnSpPr>
        <p:spPr>
          <a:xfrm>
            <a:off x="913795" y="1706880"/>
            <a:ext cx="1036441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310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B6F5-6802-EAEC-7384-F1A2B62E3913}"/>
              </a:ext>
            </a:extLst>
          </p:cNvPr>
          <p:cNvSpPr>
            <a:spLocks noGrp="1"/>
          </p:cNvSpPr>
          <p:nvPr>
            <p:ph type="title"/>
          </p:nvPr>
        </p:nvSpPr>
        <p:spPr>
          <a:xfrm>
            <a:off x="913795" y="259082"/>
            <a:ext cx="10353762" cy="1264916"/>
          </a:xfrm>
        </p:spPr>
        <p:txBody>
          <a:bodyPr/>
          <a:lstStyle/>
          <a:p>
            <a:r>
              <a:rPr lang="en-IN" b="1" dirty="0">
                <a:solidFill>
                  <a:schemeClr val="tx1"/>
                </a:solidFill>
              </a:rPr>
              <a:t>Analysis &amp; Recommendations</a:t>
            </a:r>
          </a:p>
        </p:txBody>
      </p:sp>
      <p:sp>
        <p:nvSpPr>
          <p:cNvPr id="3" name="Content Placeholder 2">
            <a:extLst>
              <a:ext uri="{FF2B5EF4-FFF2-40B4-BE49-F238E27FC236}">
                <a16:creationId xmlns:a16="http://schemas.microsoft.com/office/drawing/2014/main" id="{4C62AD08-C8CF-A89C-7DC0-8337FC9661D5}"/>
              </a:ext>
            </a:extLst>
          </p:cNvPr>
          <p:cNvSpPr>
            <a:spLocks noGrp="1"/>
          </p:cNvSpPr>
          <p:nvPr>
            <p:ph idx="1"/>
          </p:nvPr>
        </p:nvSpPr>
        <p:spPr>
          <a:xfrm>
            <a:off x="913795" y="1752603"/>
            <a:ext cx="10353762" cy="4846311"/>
          </a:xfrm>
        </p:spPr>
        <p:txBody>
          <a:bodyPr>
            <a:normAutofit/>
          </a:bodyPr>
          <a:lstStyle/>
          <a:p>
            <a:pPr algn="just"/>
            <a:r>
              <a:rPr lang="en-US" b="1" dirty="0">
                <a:solidFill>
                  <a:srgbClr val="FF0000"/>
                </a:solidFill>
              </a:rPr>
              <a:t>Optimizing Content Formats</a:t>
            </a:r>
            <a:r>
              <a:rPr lang="en-US" dirty="0"/>
              <a:t>:- Focus on *photo-based* content since it generates the most engagement. Use *video formats strategically* for specific campaigns with strong visual storytelling. Experiment with carousel posts to improve their effectiveness. </a:t>
            </a:r>
          </a:p>
          <a:p>
            <a:pPr algn="just"/>
            <a:r>
              <a:rPr lang="en-US" b="1" dirty="0">
                <a:solidFill>
                  <a:srgbClr val="FF0000"/>
                </a:solidFill>
              </a:rPr>
              <a:t>Improving Yearly Growth</a:t>
            </a:r>
            <a:r>
              <a:rPr lang="en-US" dirty="0"/>
              <a:t>:- Maintain the *upward trend* by identifying key factors driving engagement growth. Enhance *content strategy* by tracking audience interaction patterns. Optimize posting *frequency* and *timing* based on the most engaged periods. </a:t>
            </a:r>
          </a:p>
          <a:p>
            <a:pPr algn="just"/>
            <a:r>
              <a:rPr lang="en-US" b="1" dirty="0">
                <a:solidFill>
                  <a:srgbClr val="FF0000"/>
                </a:solidFill>
              </a:rPr>
              <a:t>Leveraging Top-Performing Posts</a:t>
            </a:r>
            <a:r>
              <a:rPr lang="en-US" dirty="0"/>
              <a:t>:- Analyze successful posts to identify *common themes* and *effective engagement triggers*. Replicate the *style  and messaging* that works best for the audience</a:t>
            </a:r>
            <a:endParaRPr lang="en-IN" dirty="0"/>
          </a:p>
        </p:txBody>
      </p:sp>
      <p:cxnSp>
        <p:nvCxnSpPr>
          <p:cNvPr id="5" name="Straight Connector 4">
            <a:extLst>
              <a:ext uri="{FF2B5EF4-FFF2-40B4-BE49-F238E27FC236}">
                <a16:creationId xmlns:a16="http://schemas.microsoft.com/office/drawing/2014/main" id="{BA7FBF68-D97E-A60F-0505-F237F3C124A3}"/>
              </a:ext>
            </a:extLst>
          </p:cNvPr>
          <p:cNvCxnSpPr>
            <a:cxnSpLocks/>
          </p:cNvCxnSpPr>
          <p:nvPr/>
        </p:nvCxnSpPr>
        <p:spPr>
          <a:xfrm flipV="1">
            <a:off x="1143000" y="1523998"/>
            <a:ext cx="10124557" cy="10668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60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C0CD-9C4C-1E5F-BB59-9D3222250813}"/>
              </a:ext>
            </a:extLst>
          </p:cNvPr>
          <p:cNvSpPr>
            <a:spLocks noGrp="1"/>
          </p:cNvSpPr>
          <p:nvPr>
            <p:ph type="title"/>
          </p:nvPr>
        </p:nvSpPr>
        <p:spPr/>
        <p:txBody>
          <a:bodyPr>
            <a:normAutofit/>
          </a:bodyPr>
          <a:lstStyle/>
          <a:p>
            <a:r>
              <a:rPr lang="en-IN" sz="4800" b="1" dirty="0">
                <a:solidFill>
                  <a:schemeClr val="tx1"/>
                </a:solidFill>
              </a:rPr>
              <a:t>Conclusion</a:t>
            </a:r>
          </a:p>
        </p:txBody>
      </p:sp>
      <p:sp>
        <p:nvSpPr>
          <p:cNvPr id="3" name="Content Placeholder 2">
            <a:extLst>
              <a:ext uri="{FF2B5EF4-FFF2-40B4-BE49-F238E27FC236}">
                <a16:creationId xmlns:a16="http://schemas.microsoft.com/office/drawing/2014/main" id="{A2639802-F9A5-8D20-B401-4F10B32C8143}"/>
              </a:ext>
            </a:extLst>
          </p:cNvPr>
          <p:cNvSpPr>
            <a:spLocks noGrp="1"/>
          </p:cNvSpPr>
          <p:nvPr>
            <p:ph idx="1"/>
          </p:nvPr>
        </p:nvSpPr>
        <p:spPr/>
        <p:txBody>
          <a:bodyPr>
            <a:normAutofit/>
          </a:bodyPr>
          <a:lstStyle/>
          <a:p>
            <a:pPr algn="just"/>
            <a:r>
              <a:rPr lang="en-IN" sz="2400" dirty="0"/>
              <a:t>The *Instagram Engagement Analysis Dashboard* offers valuable insights into social media trends, helping businesses maximize engagement, refine their content strategy, and enhance overall performance. By leveraging data analytics, companies can optimize their Instagram marketing approach for better audience interaction and growth.</a:t>
            </a:r>
          </a:p>
        </p:txBody>
      </p:sp>
      <p:cxnSp>
        <p:nvCxnSpPr>
          <p:cNvPr id="5" name="Straight Connector 4">
            <a:extLst>
              <a:ext uri="{FF2B5EF4-FFF2-40B4-BE49-F238E27FC236}">
                <a16:creationId xmlns:a16="http://schemas.microsoft.com/office/drawing/2014/main" id="{E905EFAA-4A0F-0296-FE76-6F37A698E034}"/>
              </a:ext>
            </a:extLst>
          </p:cNvPr>
          <p:cNvCxnSpPr>
            <a:cxnSpLocks/>
          </p:cNvCxnSpPr>
          <p:nvPr/>
        </p:nvCxnSpPr>
        <p:spPr>
          <a:xfrm>
            <a:off x="1158240" y="1866900"/>
            <a:ext cx="1002731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7193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A76070-385C-295F-E7AC-DEA81AB56657}"/>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495959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{F3FB01A8-A754-4313-81BE-4A815545227A}tf11665031_win32</Template>
  <TotalTime>42</TotalTime>
  <Words>471</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 Nova</vt:lpstr>
      <vt:lpstr>Arial Nova Light</vt:lpstr>
      <vt:lpstr>Wingdings 2</vt:lpstr>
      <vt:lpstr>SlateVTI</vt:lpstr>
      <vt:lpstr>Instagram Engagement Analysis for Businesses</vt:lpstr>
      <vt:lpstr>Introduction</vt:lpstr>
      <vt:lpstr>Acknowledgment</vt:lpstr>
      <vt:lpstr>Dashboard</vt:lpstr>
      <vt:lpstr>Key Finding</vt:lpstr>
      <vt:lpstr>Key Finding</vt:lpstr>
      <vt:lpstr>Analysis &amp; 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3</cp:revision>
  <dcterms:created xsi:type="dcterms:W3CDTF">2025-04-12T08:18:49Z</dcterms:created>
  <dcterms:modified xsi:type="dcterms:W3CDTF">2025-04-12T09:01:28Z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